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Calibri"/>
              </a:rPr>
              <a:t>L'assistant IA du SOC et ses douze outils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34640"/>
            <a:ext cx="2286000" cy="1280160"/>
          </a:xfrm>
          <a:prstGeom prst="roundRect">
            <a:avLst/>
          </a:prstGeom>
          <a:solidFill>
            <a:srgbClr val="FDE7D3"/>
          </a:solidFill>
          <a:ln w="19050">
            <a:solidFill>
              <a:srgbClr val="E17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Salon #chat-ia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l'analyste écrit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bot Discord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834640"/>
            <a:ext cx="2286000" cy="1280160"/>
          </a:xfrm>
          <a:prstGeom prst="roundRect">
            <a:avLst/>
          </a:prstGeom>
          <a:solidFill>
            <a:srgbClr val="ECEFF2"/>
          </a:solidFill>
          <a:ln w="1905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>
                <a:solidFill>
                  <a:srgbClr val="202528"/>
                </a:solidFill>
                <a:latin typeface="Calibri"/>
              </a:rPr>
              <a:t>Webhook chat</a:t>
            </a:r>
            <a:br>
              <a:rPr lang="fr-FR" sz="1400" b="1" dirty="0">
                <a:solidFill>
                  <a:srgbClr val="202528"/>
                </a:solidFill>
                <a:latin typeface="Calibri"/>
              </a:rPr>
            </a:br>
            <a:r>
              <a:rPr lang="fr-FR" sz="1400" dirty="0">
                <a:solidFill>
                  <a:srgbClr val="202528"/>
                </a:solidFill>
                <a:latin typeface="Calibri"/>
              </a:rPr>
              <a:t>(Workflow </a:t>
            </a:r>
            <a:r>
              <a:rPr lang="fr-FR" sz="1400" dirty="0">
                <a:solidFill>
                  <a:srgbClr val="202528"/>
                </a:solidFill>
              </a:rPr>
              <a:t>SOC-Assistant)</a:t>
            </a:r>
            <a:endParaRPr sz="1400" dirty="0">
              <a:solidFill>
                <a:srgbClr val="202528"/>
              </a:solidFill>
              <a:latin typeface="Calibri"/>
            </a:endParaRPr>
          </a:p>
          <a:p>
            <a:pPr algn="ctr"/>
            <a:r>
              <a:rPr sz="1000" b="0" dirty="0">
                <a:solidFill>
                  <a:srgbClr val="60666C"/>
                </a:solidFill>
                <a:latin typeface="Calibri"/>
              </a:rPr>
              <a:t>/webhook/.../chat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2560320"/>
            <a:ext cx="2743200" cy="1828800"/>
          </a:xfrm>
          <a:prstGeom prst="roundRect">
            <a:avLst/>
          </a:prstGeom>
          <a:solidFill>
            <a:srgbClr val="EAE2F6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600" b="1">
                <a:solidFill>
                  <a:srgbClr val="202528"/>
                </a:solidFill>
                <a:latin typeface="Calibri"/>
              </a:rPr>
              <a:t>AI Agent</a:t>
            </a:r>
          </a:p>
          <a:p>
            <a:pPr algn="ctr"/>
            <a:r>
              <a:rPr sz="1200" b="0">
                <a:solidFill>
                  <a:srgbClr val="60666C"/>
                </a:solidFill>
                <a:latin typeface="Calibri"/>
              </a:rPr>
              <a:t>comprend, choisit les outils,</a:t>
            </a:r>
          </a:p>
          <a:p>
            <a:pPr algn="ctr"/>
            <a:r>
              <a:rPr sz="1200" b="0">
                <a:solidFill>
                  <a:srgbClr val="60666C"/>
                </a:solidFill>
                <a:latin typeface="Calibri"/>
              </a:rPr>
              <a:t>rédige la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4754880"/>
            <a:ext cx="1280160" cy="914400"/>
          </a:xfrm>
          <a:prstGeom prst="roundRect">
            <a:avLst/>
          </a:prstGeom>
          <a:solidFill>
            <a:srgbClr val="EAE2F6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200" b="1">
                <a:solidFill>
                  <a:srgbClr val="202528"/>
                </a:solidFill>
                <a:latin typeface="Calibri"/>
              </a:rPr>
              <a:t>DeepSeek</a:t>
            </a:r>
          </a:p>
          <a:p>
            <a:pPr algn="ctr"/>
            <a:r>
              <a:rPr sz="800" b="0">
                <a:solidFill>
                  <a:srgbClr val="60666C"/>
                </a:solidFill>
                <a:latin typeface="Calibri"/>
              </a:rPr>
              <a:t>le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754880"/>
            <a:ext cx="1280160" cy="914400"/>
          </a:xfrm>
          <a:prstGeom prst="roundRect">
            <a:avLst/>
          </a:prstGeom>
          <a:solidFill>
            <a:srgbClr val="ECEFF2"/>
          </a:solidFill>
          <a:ln w="1905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200" b="1">
                <a:solidFill>
                  <a:srgbClr val="202528"/>
                </a:solidFill>
                <a:latin typeface="Calibri"/>
              </a:rPr>
              <a:t>Memory</a:t>
            </a:r>
          </a:p>
          <a:p>
            <a:pPr algn="ctr"/>
            <a:r>
              <a:rPr sz="800" b="0">
                <a:solidFill>
                  <a:srgbClr val="60666C"/>
                </a:solidFill>
                <a:latin typeface="Calibri"/>
              </a:rPr>
              <a:t>fil de discussion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474720"/>
            <a:ext cx="274320" cy="0"/>
          </a:xfrm>
          <a:prstGeom prst="line">
            <a:avLst/>
          </a:prstGeom>
          <a:ln w="25400">
            <a:solidFill>
              <a:srgbClr val="9AA3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474720"/>
            <a:ext cx="274320" cy="0"/>
          </a:xfrm>
          <a:prstGeom prst="line">
            <a:avLst/>
          </a:prstGeom>
          <a:ln w="25400">
            <a:solidFill>
              <a:srgbClr val="9AA3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" y="4389120"/>
            <a:ext cx="0" cy="365760"/>
          </a:xfrm>
          <a:prstGeom prst="line">
            <a:avLst/>
          </a:prstGeom>
          <a:ln w="22860">
            <a:solidFill>
              <a:srgbClr val="7E57C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80960" y="4389120"/>
            <a:ext cx="0" cy="365760"/>
          </a:xfrm>
          <a:prstGeom prst="line">
            <a:avLst/>
          </a:prstGeom>
          <a:ln w="25400">
            <a:solidFill>
              <a:srgbClr val="9AA3A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80090" y="530663"/>
            <a:ext cx="320040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dirty="0">
                <a:solidFill>
                  <a:srgbClr val="1F4E79"/>
                </a:solidFill>
                <a:latin typeface="Calibri"/>
              </a:rPr>
              <a:t>12 </a:t>
            </a:r>
            <a:r>
              <a:rPr sz="1600" b="1" dirty="0" err="1">
                <a:solidFill>
                  <a:srgbClr val="1F4E79"/>
                </a:solidFill>
                <a:latin typeface="Calibri"/>
              </a:rPr>
              <a:t>outils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 (sous-workflows)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899740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sz="1200" b="0" dirty="0" err="1">
                <a:solidFill>
                  <a:srgbClr val="202528"/>
                </a:solidFill>
                <a:latin typeface="Calibri"/>
              </a:rPr>
              <a:t>search_alerts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0" y="2355760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sz="1200" b="0" dirty="0" err="1">
                <a:solidFill>
                  <a:srgbClr val="202528"/>
                </a:solidFill>
                <a:latin typeface="Calibri"/>
              </a:rPr>
              <a:t>run_action</a:t>
            </a:r>
            <a:r>
              <a:rPr sz="1200" b="0" dirty="0">
                <a:solidFill>
                  <a:srgbClr val="202528"/>
                </a:solidFill>
                <a:latin typeface="Calibri"/>
              </a:rPr>
              <a:t> (les actions SOAR)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824410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sz="1200" b="0" dirty="0" err="1">
                <a:solidFill>
                  <a:srgbClr val="202528"/>
                </a:solidFill>
                <a:latin typeface="Calibri"/>
              </a:rPr>
              <a:t>get_vulnerabilities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0" y="3280434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sz="1200" b="0" dirty="0" err="1">
                <a:solidFill>
                  <a:srgbClr val="202528"/>
                </a:solidFill>
                <a:latin typeface="Calibri"/>
              </a:rPr>
              <a:t>list_bans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0" y="3748354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sz="1200" b="0" dirty="0" err="1">
                <a:solidFill>
                  <a:srgbClr val="202528"/>
                </a:solidFill>
                <a:latin typeface="Calibri"/>
              </a:rPr>
              <a:t>soar_status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86800" y="4212721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sz="1200" b="0" dirty="0" err="1">
                <a:solidFill>
                  <a:srgbClr val="202528"/>
                </a:solidFill>
                <a:latin typeface="Calibri"/>
              </a:rPr>
              <a:t>vt_lookup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86800" y="4665792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sz="1200" b="0" dirty="0" err="1">
                <a:solidFill>
                  <a:srgbClr val="202528"/>
                </a:solidFill>
                <a:latin typeface="Calibri"/>
              </a:rPr>
              <a:t>hybrid_analysis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3474720"/>
            <a:ext cx="365760" cy="0"/>
          </a:xfrm>
          <a:prstGeom prst="line">
            <a:avLst/>
          </a:prstGeom>
          <a:ln w="27940">
            <a:solidFill>
              <a:srgbClr val="2E9E5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200" b="0">
                <a:solidFill>
                  <a:srgbClr val="60666C"/>
                </a:solidFill>
                <a:latin typeface="Calibri"/>
              </a:rPr>
              <a:t>L'agent lit les alertes et la threat intelligence, et n'agit que par l'outil run_action, lui-même protégé par les garde-fous.</a:t>
            </a:r>
          </a:p>
        </p:txBody>
      </p:sp>
      <p:sp>
        <p:nvSpPr>
          <p:cNvPr id="34" name="Rounded Rectangle 15">
            <a:extLst>
              <a:ext uri="{FF2B5EF4-FFF2-40B4-BE49-F238E27FC236}">
                <a16:creationId xmlns:a16="http://schemas.microsoft.com/office/drawing/2014/main" id="{88AE4CCD-5DEF-3B4C-2B72-C1E4ACC4A8A5}"/>
              </a:ext>
            </a:extLst>
          </p:cNvPr>
          <p:cNvSpPr/>
          <p:nvPr/>
        </p:nvSpPr>
        <p:spPr>
          <a:xfrm>
            <a:off x="8686800" y="6084448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lang="fr-FR" sz="1200" dirty="0" err="1">
                <a:solidFill>
                  <a:srgbClr val="202528"/>
                </a:solidFill>
              </a:rPr>
              <a:t>get_data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CCF4BD7C-4622-F813-FEAA-391900CA7D09}"/>
              </a:ext>
            </a:extLst>
          </p:cNvPr>
          <p:cNvSpPr/>
          <p:nvPr/>
        </p:nvSpPr>
        <p:spPr>
          <a:xfrm>
            <a:off x="8686800" y="959039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lang="fr-FR" sz="1200" dirty="0" err="1">
                <a:solidFill>
                  <a:srgbClr val="202528"/>
                </a:solidFill>
              </a:rPr>
              <a:t>list_quarantine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38" name="Rounded Rectangle 15">
            <a:extLst>
              <a:ext uri="{FF2B5EF4-FFF2-40B4-BE49-F238E27FC236}">
                <a16:creationId xmlns:a16="http://schemas.microsoft.com/office/drawing/2014/main" id="{F4EC9342-945C-6513-6EF8-94E9936931E6}"/>
              </a:ext>
            </a:extLst>
          </p:cNvPr>
          <p:cNvSpPr/>
          <p:nvPr/>
        </p:nvSpPr>
        <p:spPr>
          <a:xfrm>
            <a:off x="8686800" y="5609888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lang="fr-FR" sz="1200" dirty="0" err="1">
                <a:solidFill>
                  <a:srgbClr val="202528"/>
                </a:solidFill>
              </a:rPr>
              <a:t>otx_lookup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F2E2E6C6-9B74-289E-8E61-39FCBDD713D7}"/>
              </a:ext>
            </a:extLst>
          </p:cNvPr>
          <p:cNvSpPr/>
          <p:nvPr/>
        </p:nvSpPr>
        <p:spPr>
          <a:xfrm>
            <a:off x="8686800" y="1427594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lang="fr-FR" sz="1200" dirty="0" err="1">
                <a:solidFill>
                  <a:srgbClr val="202528"/>
                </a:solidFill>
              </a:rPr>
              <a:t>soc_config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  <p:sp>
        <p:nvSpPr>
          <p:cNvPr id="42" name="Rounded Rectangle 15">
            <a:extLst>
              <a:ext uri="{FF2B5EF4-FFF2-40B4-BE49-F238E27FC236}">
                <a16:creationId xmlns:a16="http://schemas.microsoft.com/office/drawing/2014/main" id="{0F192B06-0AFF-6964-0C48-11343531417B}"/>
              </a:ext>
            </a:extLst>
          </p:cNvPr>
          <p:cNvSpPr/>
          <p:nvPr/>
        </p:nvSpPr>
        <p:spPr>
          <a:xfrm>
            <a:off x="8686800" y="5136121"/>
            <a:ext cx="3108960" cy="358877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lang="fr-FR" sz="1200" dirty="0">
                <a:solidFill>
                  <a:srgbClr val="202528"/>
                </a:solidFill>
              </a:rPr>
              <a:t>SOC </a:t>
            </a:r>
            <a:r>
              <a:rPr lang="fr-FR" sz="1200" dirty="0" err="1">
                <a:solidFill>
                  <a:srgbClr val="202528"/>
                </a:solidFill>
              </a:rPr>
              <a:t>tool</a:t>
            </a:r>
            <a:r>
              <a:rPr lang="fr-FR" sz="1200" dirty="0">
                <a:solidFill>
                  <a:srgbClr val="202528"/>
                </a:solidFill>
              </a:rPr>
              <a:t> - </a:t>
            </a:r>
            <a:r>
              <a:rPr lang="fr-FR" sz="1200" dirty="0" err="1">
                <a:solidFill>
                  <a:srgbClr val="202528"/>
                </a:solidFill>
              </a:rPr>
              <a:t>shodan_lookup</a:t>
            </a:r>
            <a:endParaRPr sz="1200" b="0" dirty="0">
              <a:solidFill>
                <a:srgbClr val="20252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151</Words>
  <Application>Microsoft Office PowerPoint</Application>
  <PresentationFormat>Personnalisé</PresentationFormat>
  <Paragraphs>27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Ilyan BENDAHMANE</cp:lastModifiedBy>
  <cp:revision>3</cp:revision>
  <dcterms:created xsi:type="dcterms:W3CDTF">2013-01-27T09:14:16Z</dcterms:created>
  <dcterms:modified xsi:type="dcterms:W3CDTF">2026-07-05T19:35:24Z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2026-07-05T19:27:44Z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d233af87-ff30-42c8-8df5-4235aaec89ce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