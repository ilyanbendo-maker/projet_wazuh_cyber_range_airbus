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47120" cy="36576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Calibri"/>
              </a:rPr>
              <a:t>De l'alerte Wazuh à Discord, enrichie par l'IA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2286000" cy="1371600"/>
          </a:xfrm>
          <a:prstGeom prst="roundRect">
            <a:avLst/>
          </a:prstGeom>
          <a:solidFill>
            <a:srgbClr val="ECEFF2"/>
          </a:solidFill>
          <a:ln w="1905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Agents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001 . 002 . 000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logs, FIM, réseau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2743200"/>
            <a:ext cx="2468880" cy="1371600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500" b="1">
                <a:solidFill>
                  <a:srgbClr val="202528"/>
                </a:solidFill>
                <a:latin typeface="Calibri"/>
              </a:rPr>
              <a:t>Wazuh Manager</a:t>
            </a:r>
          </a:p>
          <a:p>
            <a:pPr algn="ctr"/>
            <a:r>
              <a:rPr sz="1100" b="0">
                <a:solidFill>
                  <a:srgbClr val="60666C"/>
                </a:solidFill>
                <a:latin typeface="Calibri"/>
              </a:rPr>
              <a:t>analyse, règles</a:t>
            </a:r>
          </a:p>
          <a:p>
            <a:pPr algn="ctr"/>
            <a:r>
              <a:rPr sz="1100" b="0">
                <a:solidFill>
                  <a:srgbClr val="60666C"/>
                </a:solidFill>
                <a:latin typeface="Calibri"/>
              </a:rPr>
              <a:t>niveau d'alerte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005840"/>
            <a:ext cx="2468880" cy="1188720"/>
          </a:xfrm>
          <a:prstGeom prst="roundRect">
            <a:avLst/>
          </a:prstGeom>
          <a:solidFill>
            <a:srgbClr val="EAE2F6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DeepSeek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enrichit les alertes &gt;= 7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résumé, MITRE, criticité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4343400" y="2194560"/>
            <a:ext cx="0" cy="548640"/>
          </a:xfrm>
          <a:prstGeom prst="line">
            <a:avLst/>
          </a:prstGeom>
          <a:ln w="25400">
            <a:solidFill>
              <a:srgbClr val="7E57C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429000"/>
            <a:ext cx="365760" cy="0"/>
          </a:xfrm>
          <a:prstGeom prst="line">
            <a:avLst/>
          </a:prstGeom>
          <a:ln w="25400">
            <a:solidFill>
              <a:srgbClr val="9AA3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463040"/>
            <a:ext cx="2651760" cy="1143000"/>
          </a:xfrm>
          <a:prstGeom prst="roundRect">
            <a:avLst/>
          </a:prstGeom>
          <a:solidFill>
            <a:srgbClr val="DEE9F7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300" b="1" dirty="0" err="1">
                <a:solidFill>
                  <a:srgbClr val="202528"/>
                </a:solidFill>
                <a:latin typeface="Calibri"/>
              </a:rPr>
              <a:t>Intégration</a:t>
            </a:r>
            <a:r>
              <a:rPr sz="1300" b="1" dirty="0">
                <a:solidFill>
                  <a:srgbClr val="202528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02528"/>
                </a:solidFill>
                <a:latin typeface="Calibri"/>
              </a:rPr>
              <a:t>niveau</a:t>
            </a:r>
            <a:r>
              <a:rPr sz="1300" b="1" dirty="0">
                <a:solidFill>
                  <a:srgbClr val="202528"/>
                </a:solidFill>
                <a:latin typeface="Calibri"/>
              </a:rPr>
              <a:t> 8</a:t>
            </a:r>
            <a:r>
              <a:rPr lang="fr-FR" sz="1300" b="1" dirty="0">
                <a:solidFill>
                  <a:srgbClr val="202528"/>
                </a:solidFill>
                <a:latin typeface="Calibri"/>
              </a:rPr>
              <a:t> ou plus</a:t>
            </a:r>
            <a:endParaRPr sz="1300" b="1" dirty="0">
              <a:solidFill>
                <a:srgbClr val="202528"/>
              </a:solidFill>
              <a:latin typeface="Calibri"/>
            </a:endParaRPr>
          </a:p>
          <a:p>
            <a:pPr algn="ctr"/>
            <a:r>
              <a:rPr sz="900" b="0" dirty="0">
                <a:solidFill>
                  <a:srgbClr val="60666C"/>
                </a:solidFill>
                <a:latin typeface="Calibri"/>
              </a:rPr>
              <a:t>POST /webhook/</a:t>
            </a:r>
            <a:r>
              <a:rPr sz="900" b="0" dirty="0" err="1">
                <a:solidFill>
                  <a:srgbClr val="60666C"/>
                </a:solidFill>
                <a:latin typeface="Calibri"/>
              </a:rPr>
              <a:t>wazuh</a:t>
            </a:r>
            <a:endParaRPr sz="900" b="0" dirty="0">
              <a:solidFill>
                <a:srgbClr val="60666C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2651760" cy="1143000"/>
          </a:xfrm>
          <a:prstGeom prst="roundRect">
            <a:avLst/>
          </a:prstGeom>
          <a:solidFill>
            <a:srgbClr val="FDE7D3"/>
          </a:solidFill>
          <a:ln w="19050">
            <a:solidFill>
              <a:srgbClr val="E17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300" b="1" dirty="0" err="1">
                <a:solidFill>
                  <a:srgbClr val="202528"/>
                </a:solidFill>
                <a:latin typeface="Calibri"/>
              </a:rPr>
              <a:t>Intégration</a:t>
            </a:r>
            <a:r>
              <a:rPr sz="1300" b="1" dirty="0">
                <a:solidFill>
                  <a:srgbClr val="202528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202528"/>
                </a:solidFill>
                <a:latin typeface="Calibri"/>
              </a:rPr>
              <a:t>niveau</a:t>
            </a:r>
            <a:r>
              <a:rPr sz="1300" b="1" dirty="0">
                <a:solidFill>
                  <a:srgbClr val="202528"/>
                </a:solidFill>
                <a:latin typeface="Calibri"/>
              </a:rPr>
              <a:t> 10</a:t>
            </a:r>
            <a:r>
              <a:rPr lang="fr-FR" sz="1300" b="1" dirty="0">
                <a:solidFill>
                  <a:srgbClr val="202528"/>
                </a:solidFill>
                <a:latin typeface="Calibri"/>
              </a:rPr>
              <a:t> ou plus</a:t>
            </a:r>
            <a:endParaRPr sz="1300" b="1" dirty="0">
              <a:solidFill>
                <a:srgbClr val="202528"/>
              </a:solidFill>
              <a:latin typeface="Calibri"/>
            </a:endParaRPr>
          </a:p>
          <a:p>
            <a:pPr algn="ctr"/>
            <a:r>
              <a:rPr sz="900" b="0" dirty="0">
                <a:solidFill>
                  <a:srgbClr val="60666C"/>
                </a:solidFill>
                <a:latin typeface="Calibri"/>
              </a:rPr>
              <a:t>POST /webhook/</a:t>
            </a:r>
          </a:p>
          <a:p>
            <a:pPr algn="ctr"/>
            <a:r>
              <a:rPr sz="900" b="0" dirty="0" err="1">
                <a:solidFill>
                  <a:srgbClr val="60666C"/>
                </a:solidFill>
                <a:latin typeface="Calibri"/>
              </a:rPr>
              <a:t>wazuh</a:t>
            </a:r>
            <a:r>
              <a:rPr sz="900" b="0" dirty="0">
                <a:solidFill>
                  <a:srgbClr val="60666C"/>
                </a:solidFill>
                <a:latin typeface="Calibri"/>
              </a:rPr>
              <a:t>-soar-validate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577840" y="2011680"/>
            <a:ext cx="731520" cy="1097280"/>
          </a:xfrm>
          <a:prstGeom prst="line">
            <a:avLst/>
          </a:prstGeom>
          <a:ln w="25400">
            <a:solidFill>
              <a:srgbClr val="2E6D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77840" y="3749039"/>
            <a:ext cx="731520" cy="1005841"/>
          </a:xfrm>
          <a:prstGeom prst="line">
            <a:avLst/>
          </a:prstGeom>
          <a:ln w="25400">
            <a:solidFill>
              <a:srgbClr val="E17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26880" y="1463040"/>
            <a:ext cx="2377440" cy="1143000"/>
          </a:xfrm>
          <a:prstGeom prst="roundRect">
            <a:avLst/>
          </a:prstGeom>
          <a:solidFill>
            <a:srgbClr val="DEE9F7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n8n : carte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salon #alertes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4206240"/>
            <a:ext cx="2377440" cy="1143000"/>
          </a:xfrm>
          <a:prstGeom prst="roundRect">
            <a:avLst/>
          </a:prstGeom>
          <a:solidFill>
            <a:srgbClr val="FDE7D3"/>
          </a:solidFill>
          <a:ln w="19050">
            <a:solidFill>
              <a:srgbClr val="E17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300" b="1">
                <a:solidFill>
                  <a:srgbClr val="202528"/>
                </a:solidFill>
                <a:latin typeface="Calibri"/>
              </a:rPr>
              <a:t>n8n : validation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salon #validations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boutons Approuver/Refuser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20" y="2011680"/>
            <a:ext cx="365760" cy="0"/>
          </a:xfrm>
          <a:prstGeom prst="line">
            <a:avLst/>
          </a:prstGeom>
          <a:ln w="25400">
            <a:solidFill>
              <a:srgbClr val="2E6D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1120" y="4754880"/>
            <a:ext cx="365760" cy="0"/>
          </a:xfrm>
          <a:prstGeom prst="line">
            <a:avLst/>
          </a:prstGeom>
          <a:ln w="25400">
            <a:solidFill>
              <a:srgbClr val="E17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200" b="0">
                <a:solidFill>
                  <a:srgbClr val="60666C"/>
                </a:solidFill>
                <a:latin typeface="Calibri"/>
              </a:rPr>
              <a:t>Deux intégrations 'shuffle' postent l'alerte JSON vers deux webhooks n8n selon le niveau. n8n met en forme et publie dans Discord.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</Words>
  <Application>Microsoft Office PowerPoint</Application>
  <PresentationFormat>Personnalisé</PresentationFormat>
  <Paragraphs>21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Ilyan BENDAHMANE</cp:lastModifiedBy>
  <cp:revision>2</cp:revision>
  <dcterms:created xsi:type="dcterms:W3CDTF">2013-01-27T09:14:16Z</dcterms:created>
  <dcterms:modified xsi:type="dcterms:W3CDTF">2026-07-05T19:26:16Z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SetDate">
    <vt:lpwstr>2026-07-05T19:26:15Z</vt:lpwstr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Name">
    <vt:lpwstr>defa4170-0d19-0005-0004-bc88714345d2</vt:lpwstr>
  </property>
  <property fmtid="{D5CDD505-2E9C-101B-9397-08002B2CF9AE}" pid="6" name="MSIP_Label_47e7dfc5-2bf4-4a75-8664-2dc4b3bb1d09_SiteId">
    <vt:lpwstr>413600cf-bd4e-4c7c-8a61-69e73cddf731</vt:lpwstr>
  </property>
  <property fmtid="{D5CDD505-2E9C-101B-9397-08002B2CF9AE}" pid="7" name="MSIP_Label_47e7dfc5-2bf4-4a75-8664-2dc4b3bb1d09_ActionId">
    <vt:lpwstr>bec495d7-7645-4de1-9cf3-4c598ec778ce</vt:lpwstr>
  </property>
  <property fmtid="{D5CDD505-2E9C-101B-9397-08002B2CF9AE}" pid="8" name="MSIP_Label_47e7dfc5-2bf4-4a75-8664-2dc4b3bb1d09_ContentBits">
    <vt:lpwstr>0</vt:lpwstr>
  </property>
  <property fmtid="{D5CDD505-2E9C-101B-9397-08002B2CF9AE}" pid="9" name="MSIP_Label_47e7dfc5-2bf4-4a75-8664-2dc4b3bb1d09_Tag">
    <vt:lpwstr>10, 3, 0, 1</vt:lpwstr>
  </property>
</Properties>
</file>